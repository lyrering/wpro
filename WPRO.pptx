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0" r:id="rId9"/>
    <p:sldId id="262" r:id="rId10"/>
    <p:sldId id="264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7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A651"/>
    <a:srgbClr val="CCB756"/>
    <a:srgbClr val="BFAB63"/>
    <a:srgbClr val="BFA663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7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Online Orchestration of Agentic LLM Workflows with Model Residency Awareness</a:t>
            </a:r>
            <a:r>
              <a:rPr lang="zh-CN" altLang="en-US"/>
              <a:t>、</a:t>
            </a:r>
            <a:r>
              <a:rPr lang="en-US" altLang="zh-CN"/>
              <a:t>Online Agentic LLM Workflow Orchestration under State-Dependent Model Preparation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Deep-Research Workflow</a:t>
            </a:r>
            <a:endParaRPr lang="en-US" altLang="zh-CN"/>
          </a:p>
          <a:p>
            <a:r>
              <a:rPr lang="en-US" altLang="zh-CN"/>
              <a:t>Plan</a:t>
            </a:r>
            <a:r>
              <a:rPr lang="en-US" altLang="en-US"/>
              <a:t>→</a:t>
            </a:r>
            <a:r>
              <a:rPr lang="en-US" altLang="zh-CN"/>
              <a:t>Search</a:t>
            </a:r>
            <a:r>
              <a:rPr lang="en-US" altLang="en-US"/>
              <a:t>→</a:t>
            </a:r>
            <a:r>
              <a:rPr lang="en-US" altLang="zh-CN"/>
              <a:t>Reason</a:t>
            </a:r>
            <a:r>
              <a:rPr lang="en-US" altLang="en-US"/>
              <a:t>→</a:t>
            </a:r>
            <a:r>
              <a:rPr lang="en-US" altLang="zh-CN"/>
              <a:t>Write</a:t>
            </a:r>
            <a:r>
              <a:rPr lang="en-US" altLang="en-US"/>
              <a:t>→</a:t>
            </a:r>
            <a:r>
              <a:rPr lang="en-US" altLang="zh-CN"/>
              <a:t>Verify.</a:t>
            </a:r>
            <a:endParaRPr lang="en-US" altLang="zh-CN"/>
          </a:p>
          <a:p>
            <a:r>
              <a:rPr lang="zh-CN" altLang="en-US"/>
              <a:t>阶段类型</a:t>
            </a:r>
            <a:r>
              <a:rPr lang="en-US" altLang="zh-CN"/>
              <a:t>	</a:t>
            </a:r>
            <a:r>
              <a:rPr lang="zh-CN" altLang="en-US"/>
              <a:t>实际职责</a:t>
            </a:r>
            <a:r>
              <a:rPr lang="en-US" altLang="zh-CN"/>
              <a:t>	</a:t>
            </a:r>
            <a:r>
              <a:rPr lang="zh-CN" altLang="en-US"/>
              <a:t>候选模型类别</a:t>
            </a:r>
            <a:endParaRPr lang="zh-CN" altLang="en-US"/>
          </a:p>
          <a:p>
            <a:r>
              <a:rPr lang="en-US" altLang="zh-CN"/>
              <a:t>Planner	</a:t>
            </a:r>
            <a:r>
              <a:rPr lang="zh-CN" altLang="en-US"/>
              <a:t>将问题分解成研究计划</a:t>
            </a:r>
            <a:r>
              <a:rPr lang="en-US" altLang="zh-CN"/>
              <a:t>	reasoning LLM</a:t>
            </a:r>
            <a:endParaRPr lang="en-US" altLang="zh-CN"/>
          </a:p>
          <a:p>
            <a:r>
              <a:rPr lang="en-US" altLang="zh-CN"/>
              <a:t>Searcher	</a:t>
            </a:r>
            <a:r>
              <a:rPr lang="zh-CN" altLang="en-US"/>
              <a:t>生成查询、调用搜索或知识库</a:t>
            </a:r>
            <a:r>
              <a:rPr lang="en-US" altLang="zh-CN"/>
              <a:t>	small LLM / embedding model</a:t>
            </a:r>
            <a:endParaRPr lang="en-US" altLang="zh-CN"/>
          </a:p>
          <a:p>
            <a:r>
              <a:rPr lang="en-US" altLang="zh-CN"/>
              <a:t>Reasoner	</a:t>
            </a:r>
            <a:r>
              <a:rPr lang="zh-CN" altLang="en-US"/>
              <a:t>综合多来源材料、形成论证</a:t>
            </a:r>
            <a:r>
              <a:rPr lang="en-US" altLang="zh-CN"/>
              <a:t>	long-context reasoning LLM</a:t>
            </a:r>
            <a:endParaRPr lang="en-US" altLang="zh-CN"/>
          </a:p>
          <a:p>
            <a:r>
              <a:rPr lang="en-US" altLang="zh-CN"/>
              <a:t>Writer	</a:t>
            </a:r>
            <a:r>
              <a:rPr lang="zh-CN" altLang="en-US"/>
              <a:t>生成结构化报告</a:t>
            </a:r>
            <a:r>
              <a:rPr lang="en-US" altLang="zh-CN"/>
              <a:t>	general generation LLM</a:t>
            </a:r>
            <a:endParaRPr lang="en-US" altLang="zh-CN"/>
          </a:p>
          <a:p>
            <a:r>
              <a:rPr lang="en-US" altLang="zh-CN"/>
              <a:t>Verifier	</a:t>
            </a:r>
            <a:r>
              <a:rPr lang="zh-CN" altLang="en-US"/>
              <a:t>检查事实、引用和一致性</a:t>
            </a:r>
            <a:r>
              <a:rPr lang="en-US" altLang="zh-CN"/>
              <a:t>	critic/verifier LLM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Code-Repair Workflow</a:t>
            </a:r>
            <a:endParaRPr lang="en-US" altLang="zh-CN"/>
          </a:p>
          <a:p>
            <a:r>
              <a:rPr lang="en-US" altLang="zh-CN"/>
              <a:t>Repo-Retrieve</a:t>
            </a:r>
            <a:r>
              <a:rPr lang="en-US" altLang="en-US"/>
              <a:t>→</a:t>
            </a:r>
            <a:r>
              <a:rPr lang="en-US" altLang="zh-CN"/>
              <a:t>Analyze</a:t>
            </a:r>
            <a:r>
              <a:rPr lang="en-US" altLang="en-US"/>
              <a:t>→</a:t>
            </a:r>
            <a:r>
              <a:rPr lang="en-US" altLang="zh-CN"/>
              <a:t>Patch</a:t>
            </a:r>
            <a:r>
              <a:rPr lang="en-US" altLang="en-US"/>
              <a:t>→</a:t>
            </a:r>
            <a:r>
              <a:rPr lang="en-US" altLang="zh-CN"/>
              <a:t>Test</a:t>
            </a:r>
            <a:r>
              <a:rPr lang="en-US" altLang="en-US"/>
              <a:t>→</a:t>
            </a:r>
            <a:r>
              <a:rPr lang="en-US" altLang="zh-CN"/>
              <a:t>Repair/Verify.</a:t>
            </a:r>
            <a:endParaRPr lang="en-US" altLang="zh-CN"/>
          </a:p>
          <a:p>
            <a:r>
              <a:rPr lang="zh-CN" altLang="en-US"/>
              <a:t>阶段类型</a:t>
            </a:r>
            <a:r>
              <a:rPr lang="en-US" altLang="zh-CN"/>
              <a:t>	</a:t>
            </a:r>
            <a:r>
              <a:rPr lang="zh-CN" altLang="en-US"/>
              <a:t>实际职责</a:t>
            </a:r>
            <a:r>
              <a:rPr lang="en-US" altLang="zh-CN"/>
              <a:t>	</a:t>
            </a:r>
            <a:r>
              <a:rPr lang="zh-CN" altLang="en-US"/>
              <a:t>候选模型类别</a:t>
            </a:r>
            <a:endParaRPr lang="zh-CN" altLang="en-US"/>
          </a:p>
          <a:p>
            <a:r>
              <a:rPr lang="en-US" altLang="zh-CN"/>
              <a:t>Repo-Retrieve	</a:t>
            </a:r>
            <a:r>
              <a:rPr lang="zh-CN" altLang="en-US"/>
              <a:t>查找相关文件与符号</a:t>
            </a:r>
            <a:r>
              <a:rPr lang="en-US" altLang="zh-CN"/>
              <a:t>	code embedding/retrieval</a:t>
            </a:r>
            <a:endParaRPr lang="en-US" altLang="zh-CN"/>
          </a:p>
          <a:p>
            <a:r>
              <a:rPr lang="en-US" altLang="zh-CN"/>
              <a:t>Analyze	</a:t>
            </a:r>
            <a:r>
              <a:rPr lang="zh-CN" altLang="en-US"/>
              <a:t>分析调用关系和错误原因</a:t>
            </a:r>
            <a:r>
              <a:rPr lang="en-US" altLang="zh-CN"/>
              <a:t>	code reasoning LLM</a:t>
            </a:r>
            <a:endParaRPr lang="en-US" altLang="zh-CN"/>
          </a:p>
          <a:p>
            <a:r>
              <a:rPr lang="en-US" altLang="zh-CN"/>
              <a:t>Patch	</a:t>
            </a:r>
            <a:r>
              <a:rPr lang="zh-CN" altLang="en-US"/>
              <a:t>生成代码补丁</a:t>
            </a:r>
            <a:r>
              <a:rPr lang="en-US" altLang="zh-CN"/>
              <a:t>	code generation LLM</a:t>
            </a:r>
            <a:endParaRPr lang="en-US" altLang="zh-CN"/>
          </a:p>
          <a:p>
            <a:r>
              <a:rPr lang="en-US" altLang="zh-CN"/>
              <a:t>Test	</a:t>
            </a:r>
            <a:r>
              <a:rPr lang="zh-CN" altLang="en-US"/>
              <a:t>生成测试或解释执行日志</a:t>
            </a:r>
            <a:r>
              <a:rPr lang="en-US" altLang="zh-CN"/>
              <a:t>	code LLM</a:t>
            </a:r>
            <a:endParaRPr lang="en-US" altLang="zh-CN"/>
          </a:p>
          <a:p>
            <a:r>
              <a:rPr lang="en-US" altLang="zh-CN"/>
              <a:t>Verify	</a:t>
            </a:r>
            <a:r>
              <a:rPr lang="zh-CN" altLang="en-US"/>
              <a:t>判断补丁是否正确</a:t>
            </a:r>
            <a:r>
              <a:rPr lang="en-US" altLang="zh-CN"/>
              <a:t>	code critic / general reasoning LLM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1.png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71.xml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3.xml"/><Relationship Id="rId10" Type="http://schemas.openxmlformats.org/officeDocument/2006/relationships/image" Target="../media/image25.png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5.xml"/><Relationship Id="rId10" Type="http://schemas.openxmlformats.org/officeDocument/2006/relationships/image" Target="../media/image34.png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7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tags" Target="../tags/tag8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47.png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2360295"/>
            <a:ext cx="9374505" cy="1124585"/>
          </a:xfrm>
        </p:spPr>
        <p:txBody>
          <a:bodyPr>
            <a:noAutofit/>
          </a:bodyPr>
          <a:p>
            <a:r>
              <a:rPr lang="en-US" altLang="zh-CN" sz="4400"/>
              <a:t>Workflow-Progress and Residency-Aware Orchestration for Online Agentic LLM Services</a:t>
            </a:r>
            <a:endParaRPr lang="en-US" altLang="zh-CN" sz="4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40000"/>
          </a:bodyPr>
          <a:p>
            <a:r>
              <a:rPr lang="en-US" altLang="zh-CN"/>
              <a:t>Workflow-Progress</a:t>
            </a:r>
            <a:r>
              <a:rPr lang="zh-CN" altLang="en-US"/>
              <a:t>：突出当前调度会推进</a:t>
            </a:r>
            <a:r>
              <a:rPr lang="en-US" altLang="zh-CN"/>
              <a:t> Agent DAG</a:t>
            </a:r>
            <a:r>
              <a:rPr lang="zh-CN" altLang="en-US"/>
              <a:t>，并改变未来</a:t>
            </a:r>
            <a:r>
              <a:rPr lang="en-US" altLang="zh-CN"/>
              <a:t> ready-stage </a:t>
            </a:r>
            <a:r>
              <a:rPr lang="zh-CN" altLang="en-US"/>
              <a:t>和模型需求；</a:t>
            </a:r>
            <a:endParaRPr lang="zh-CN" altLang="en-US"/>
          </a:p>
          <a:p>
            <a:r>
              <a:rPr lang="en-US" altLang="zh-CN"/>
              <a:t>Residency-Aware</a:t>
            </a:r>
            <a:r>
              <a:rPr lang="zh-CN" altLang="en-US"/>
              <a:t>：突出</a:t>
            </a:r>
            <a:r>
              <a:rPr lang="en-US" altLang="zh-CN"/>
              <a:t> GPU </a:t>
            </a:r>
            <a:r>
              <a:rPr lang="zh-CN" altLang="en-US"/>
              <a:t>上模型驻留、</a:t>
            </a:r>
            <a:r>
              <a:rPr lang="en-US" altLang="zh-CN"/>
              <a:t>adapter transition </a:t>
            </a:r>
            <a:r>
              <a:rPr lang="zh-CN" altLang="en-US"/>
              <a:t>和</a:t>
            </a:r>
            <a:r>
              <a:rPr lang="en-US" altLang="zh-CN"/>
              <a:t> cold load </a:t>
            </a:r>
            <a:r>
              <a:rPr lang="zh-CN" altLang="en-US"/>
              <a:t>对后续服务能力的长期影响；</a:t>
            </a:r>
            <a:endParaRPr lang="zh-CN" altLang="en-US"/>
          </a:p>
          <a:p>
            <a:r>
              <a:rPr lang="en-US" altLang="zh-CN"/>
              <a:t>Orchestration</a:t>
            </a:r>
            <a:r>
              <a:rPr lang="zh-CN" altLang="en-US"/>
              <a:t>：比</a:t>
            </a:r>
            <a:r>
              <a:rPr lang="en-US" altLang="zh-CN"/>
              <a:t> Scheduling </a:t>
            </a:r>
            <a:r>
              <a:rPr lang="zh-CN" altLang="en-US"/>
              <a:t>更准确，因为平台联合处理</a:t>
            </a:r>
            <a:r>
              <a:rPr lang="en-US" altLang="zh-CN"/>
              <a:t> stage dispatch</a:t>
            </a:r>
            <a:r>
              <a:rPr lang="zh-CN" altLang="en-US"/>
              <a:t>、</a:t>
            </a:r>
            <a:r>
              <a:rPr lang="en-US" altLang="zh-CN"/>
              <a:t>model selection</a:t>
            </a:r>
            <a:r>
              <a:rPr lang="zh-CN" altLang="en-US"/>
              <a:t>、</a:t>
            </a:r>
            <a:r>
              <a:rPr lang="en-US" altLang="zh-CN"/>
              <a:t>GPU assignment </a:t>
            </a:r>
            <a:r>
              <a:rPr lang="zh-CN" altLang="en-US"/>
              <a:t>和</a:t>
            </a:r>
            <a:r>
              <a:rPr lang="en-US" altLang="zh-CN"/>
              <a:t> admission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Online Agentic LLM Services</a:t>
            </a:r>
            <a:r>
              <a:rPr lang="zh-CN" altLang="en-US"/>
              <a:t>：明确场景是在线、多租户、</a:t>
            </a:r>
            <a:r>
              <a:rPr lang="en-US" altLang="zh-CN"/>
              <a:t>Agent </a:t>
            </a:r>
            <a:r>
              <a:rPr lang="zh-CN" altLang="en-US"/>
              <a:t>工作流式</a:t>
            </a:r>
            <a:r>
              <a:rPr lang="en-US" altLang="zh-CN"/>
              <a:t> LLM </a:t>
            </a:r>
            <a:r>
              <a:rPr lang="zh-CN" altLang="en-US"/>
              <a:t>服务，而不是普通</a:t>
            </a:r>
            <a:r>
              <a:rPr lang="en-US" altLang="zh-CN"/>
              <a:t> DAG </a:t>
            </a:r>
            <a:r>
              <a:rPr lang="zh-CN" altLang="en-US"/>
              <a:t>调度。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三类</a:t>
            </a:r>
            <a:r>
              <a:rPr lang="en-US" altLang="zh-CN">
                <a:sym typeface="+mn-ea"/>
              </a:rPr>
              <a:t>Agentic LLM Services</a:t>
            </a:r>
            <a:endParaRPr lang="en-US" altLang="zh-CN"/>
          </a:p>
        </p:txBody>
      </p:sp>
      <p:sp>
        <p:nvSpPr>
          <p:cNvPr id="14" name="Rounded Rectangle 13"/>
          <p:cNvSpPr/>
          <p:nvPr/>
        </p:nvSpPr>
        <p:spPr>
          <a:xfrm>
            <a:off x="1137285" y="404495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Planner Agent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13"/>
          <p:cNvSpPr/>
          <p:nvPr/>
        </p:nvSpPr>
        <p:spPr>
          <a:xfrm>
            <a:off x="3016250" y="404495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Retriver Agent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13"/>
          <p:cNvSpPr/>
          <p:nvPr/>
        </p:nvSpPr>
        <p:spPr>
          <a:xfrm>
            <a:off x="4976495" y="404495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Reasoner Agent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13"/>
          <p:cNvSpPr/>
          <p:nvPr/>
        </p:nvSpPr>
        <p:spPr>
          <a:xfrm>
            <a:off x="6938645" y="404495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W</a:t>
            </a: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riter Agent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13"/>
          <p:cNvSpPr/>
          <p:nvPr/>
        </p:nvSpPr>
        <p:spPr>
          <a:xfrm>
            <a:off x="8816975" y="403225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Verifier Agent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634615" y="4359910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4516755" y="4359910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517005" y="4341495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437245" y="4341495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9820" y="3738245"/>
            <a:ext cx="2571750" cy="1714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lvl="0" algn="l">
              <a:buClrTx/>
              <a:buSzTx/>
              <a:buFontTx/>
            </a:pPr>
            <a:r>
              <a:rPr lang="en-US" sz="16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Deep Research / RAG</a:t>
            </a:r>
            <a:endParaRPr lang="en-US" sz="16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15760" y="5332730"/>
            <a:ext cx="1920875" cy="1299845"/>
          </a:xfrm>
          <a:prstGeom prst="roundRect">
            <a:avLst>
              <a:gd name="adj" fmla="val 18000"/>
            </a:avLst>
          </a:prstGeom>
          <a:solidFill>
            <a:srgbClr val="FFF4DE"/>
          </a:solidFill>
          <a:ln w="10160">
            <a:solidFill>
              <a:schemeClr val="accent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Candidate Model Set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200" b="0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200" b="0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830" b="0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1030" b="0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090410" y="5737225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GPT-4.1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34"/>
          <p:cNvSpPr/>
          <p:nvPr/>
        </p:nvSpPr>
        <p:spPr>
          <a:xfrm>
            <a:off x="7090410" y="6010275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Llama-4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34"/>
          <p:cNvSpPr/>
          <p:nvPr/>
        </p:nvSpPr>
        <p:spPr>
          <a:xfrm>
            <a:off x="7090410" y="6283960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Qwen-2.5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3"/>
          <p:cNvSpPr/>
          <p:nvPr/>
        </p:nvSpPr>
        <p:spPr>
          <a:xfrm>
            <a:off x="1141730" y="188214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Repo-Retrieve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3"/>
          <p:cNvSpPr/>
          <p:nvPr/>
        </p:nvSpPr>
        <p:spPr>
          <a:xfrm>
            <a:off x="3020695" y="188214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Analyze</a:t>
            </a:r>
            <a:endParaRPr lang="en-US" sz="16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ounded Rectangle 13"/>
          <p:cNvSpPr/>
          <p:nvPr/>
        </p:nvSpPr>
        <p:spPr>
          <a:xfrm>
            <a:off x="4980940" y="188214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Patch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ounded Rectangle 13"/>
          <p:cNvSpPr/>
          <p:nvPr/>
        </p:nvSpPr>
        <p:spPr>
          <a:xfrm>
            <a:off x="6943090" y="188214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Tes</a:t>
            </a:r>
            <a:r>
              <a:rPr lang="en-US" sz="16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sz="16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Rounded Rectangle 13"/>
          <p:cNvSpPr/>
          <p:nvPr/>
        </p:nvSpPr>
        <p:spPr>
          <a:xfrm>
            <a:off x="8821420" y="186944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Verify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右箭头 20"/>
          <p:cNvSpPr/>
          <p:nvPr/>
        </p:nvSpPr>
        <p:spPr>
          <a:xfrm>
            <a:off x="2639060" y="2197100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4521200" y="2197100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6521450" y="2178685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8441690" y="2178685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12"/>
          <p:cNvSpPr txBox="1"/>
          <p:nvPr/>
        </p:nvSpPr>
        <p:spPr>
          <a:xfrm>
            <a:off x="1109345" y="1555750"/>
            <a:ext cx="2571750" cy="1714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6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Code-Repair Workflow</a:t>
            </a:r>
            <a:endParaRPr lang="en-US" sz="16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Rounded Rectangle 13"/>
          <p:cNvSpPr/>
          <p:nvPr/>
        </p:nvSpPr>
        <p:spPr>
          <a:xfrm>
            <a:off x="1147445" y="294132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Chunk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Rounded Rectangle 13"/>
          <p:cNvSpPr/>
          <p:nvPr/>
        </p:nvSpPr>
        <p:spPr>
          <a:xfrm>
            <a:off x="3026410" y="294132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  <a:effectLst>
            <a:reflection stA="50000" endA="300" endPos="24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Local Summarize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Rounded Rectangle 13"/>
          <p:cNvSpPr/>
          <p:nvPr/>
        </p:nvSpPr>
        <p:spPr>
          <a:xfrm>
            <a:off x="4986655" y="294132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Aggregate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Rounded Rectangle 13"/>
          <p:cNvSpPr/>
          <p:nvPr/>
        </p:nvSpPr>
        <p:spPr>
          <a:xfrm>
            <a:off x="6948805" y="294132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Global Reason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Rounded Rectangle 13"/>
          <p:cNvSpPr/>
          <p:nvPr/>
        </p:nvSpPr>
        <p:spPr>
          <a:xfrm>
            <a:off x="8827135" y="2928620"/>
            <a:ext cx="1453515" cy="66167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Polish/Verify</a:t>
            </a:r>
            <a:endParaRPr 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2644775" y="3256280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右箭头 44"/>
          <p:cNvSpPr/>
          <p:nvPr/>
        </p:nvSpPr>
        <p:spPr>
          <a:xfrm>
            <a:off x="4526915" y="3256280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6527165" y="3237865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右箭头 46"/>
          <p:cNvSpPr/>
          <p:nvPr/>
        </p:nvSpPr>
        <p:spPr>
          <a:xfrm>
            <a:off x="8447405" y="3237865"/>
            <a:ext cx="3346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12"/>
          <p:cNvSpPr txBox="1"/>
          <p:nvPr/>
        </p:nvSpPr>
        <p:spPr>
          <a:xfrm>
            <a:off x="1128395" y="2635250"/>
            <a:ext cx="3350895" cy="1841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buClrTx/>
              <a:buSzTx/>
              <a:buFontTx/>
            </a:pPr>
            <a:r>
              <a:rPr lang="en-US" sz="16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Long-Document Analysis Workflow</a:t>
            </a:r>
            <a:endParaRPr lang="en-US" sz="16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1855470" y="4723130"/>
            <a:ext cx="6350" cy="2501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Rounded Rectangle 34"/>
          <p:cNvSpPr/>
          <p:nvPr/>
        </p:nvSpPr>
        <p:spPr>
          <a:xfrm>
            <a:off x="1258570" y="4989830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1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3744595" y="4723130"/>
            <a:ext cx="6350" cy="2501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Rounded Rectangle 34"/>
          <p:cNvSpPr/>
          <p:nvPr/>
        </p:nvSpPr>
        <p:spPr>
          <a:xfrm>
            <a:off x="3147695" y="4989830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2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5710555" y="4706620"/>
            <a:ext cx="6350" cy="2501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Rounded Rectangle 34"/>
          <p:cNvSpPr/>
          <p:nvPr/>
        </p:nvSpPr>
        <p:spPr>
          <a:xfrm>
            <a:off x="5113655" y="4973320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3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 flipH="1">
            <a:off x="7672705" y="4690110"/>
            <a:ext cx="6350" cy="2501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Rounded Rectangle 34"/>
          <p:cNvSpPr/>
          <p:nvPr/>
        </p:nvSpPr>
        <p:spPr>
          <a:xfrm>
            <a:off x="7075805" y="4956810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4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9550400" y="4723130"/>
            <a:ext cx="6350" cy="2501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Rounded Rectangle 34"/>
          <p:cNvSpPr/>
          <p:nvPr/>
        </p:nvSpPr>
        <p:spPr>
          <a:xfrm>
            <a:off x="8953500" y="4989830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5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TextBox 12"/>
          <p:cNvSpPr txBox="1"/>
          <p:nvPr/>
        </p:nvSpPr>
        <p:spPr>
          <a:xfrm>
            <a:off x="1258570" y="4718685"/>
            <a:ext cx="706120" cy="2476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15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Select</a:t>
            </a:r>
            <a:endParaRPr lang="en-US" sz="115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下弧形箭头 60"/>
          <p:cNvSpPr/>
          <p:nvPr/>
        </p:nvSpPr>
        <p:spPr>
          <a:xfrm rot="16200000">
            <a:off x="7893685" y="5447665"/>
            <a:ext cx="1107440" cy="267335"/>
          </a:xfrm>
          <a:prstGeom prst="curvedUpArrow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2979420" y="3889375"/>
            <a:ext cx="1529715" cy="272542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Rounded Rectangle 13"/>
          <p:cNvSpPr/>
          <p:nvPr/>
        </p:nvSpPr>
        <p:spPr>
          <a:xfrm>
            <a:off x="3119120" y="5304155"/>
            <a:ext cx="1285240" cy="358775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Retriver 1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4" name="Rounded Rectangle 13"/>
          <p:cNvSpPr/>
          <p:nvPr/>
        </p:nvSpPr>
        <p:spPr>
          <a:xfrm>
            <a:off x="3128645" y="5737225"/>
            <a:ext cx="1285240" cy="358775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Retriver 2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Rounded Rectangle 13"/>
          <p:cNvSpPr/>
          <p:nvPr/>
        </p:nvSpPr>
        <p:spPr>
          <a:xfrm>
            <a:off x="3128645" y="6135370"/>
            <a:ext cx="1285240" cy="358775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Retriver 3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左弧形箭头 65"/>
          <p:cNvSpPr/>
          <p:nvPr/>
        </p:nvSpPr>
        <p:spPr>
          <a:xfrm rot="20340000">
            <a:off x="2685415" y="4737735"/>
            <a:ext cx="238125" cy="844550"/>
          </a:xfrm>
          <a:prstGeom prst="curvedRightArrow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左弧形箭头 66"/>
          <p:cNvSpPr/>
          <p:nvPr/>
        </p:nvSpPr>
        <p:spPr>
          <a:xfrm rot="20520000">
            <a:off x="2717800" y="4812030"/>
            <a:ext cx="126365" cy="1160145"/>
          </a:xfrm>
          <a:prstGeom prst="curvedRightArrow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左弧形箭头 67"/>
          <p:cNvSpPr/>
          <p:nvPr/>
        </p:nvSpPr>
        <p:spPr>
          <a:xfrm rot="20520000">
            <a:off x="2703195" y="4948555"/>
            <a:ext cx="158750" cy="1348740"/>
          </a:xfrm>
          <a:prstGeom prst="curvedRightArrow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左弧形箭头 68"/>
          <p:cNvSpPr/>
          <p:nvPr/>
        </p:nvSpPr>
        <p:spPr>
          <a:xfrm rot="11760000">
            <a:off x="4588510" y="4732655"/>
            <a:ext cx="238125" cy="844550"/>
          </a:xfrm>
          <a:prstGeom prst="curvedRightArrow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左弧形箭头 69"/>
          <p:cNvSpPr/>
          <p:nvPr/>
        </p:nvSpPr>
        <p:spPr>
          <a:xfrm rot="11520000">
            <a:off x="4678045" y="4886960"/>
            <a:ext cx="165735" cy="1125220"/>
          </a:xfrm>
          <a:prstGeom prst="curvedRightArrow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" name="左弧形箭头 71"/>
          <p:cNvSpPr/>
          <p:nvPr/>
        </p:nvSpPr>
        <p:spPr>
          <a:xfrm rot="11580000">
            <a:off x="4625975" y="4773930"/>
            <a:ext cx="294005" cy="1530350"/>
          </a:xfrm>
          <a:prstGeom prst="curvedRightArrow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3175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191895" y="5596890"/>
            <a:ext cx="1619885" cy="865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An agent node may have multiple concurrent tasks, forming a DAG.</a:t>
            </a:r>
            <a:endParaRPr lang="en-US" altLang="zh-CN" sz="14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332730" y="5558155"/>
            <a:ext cx="1436370" cy="850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Different agents have different sets of model candidates.</a:t>
            </a:r>
            <a:endParaRPr lang="en-US" altLang="zh-CN" sz="140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TextBox 12"/>
          <p:cNvSpPr txBox="1"/>
          <p:nvPr/>
        </p:nvSpPr>
        <p:spPr>
          <a:xfrm>
            <a:off x="1861820" y="4689475"/>
            <a:ext cx="924560" cy="192405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D2A651"/>
                </a:solidFill>
                <a:latin typeface="Times New Roman" panose="02020603050405020304" charset="0"/>
                <a:cs typeface="Times New Roman" panose="02020603050405020304" charset="0"/>
              </a:rPr>
              <a:t>Reasoning LLM</a:t>
            </a:r>
            <a:endParaRPr lang="en-US" sz="1000" b="1">
              <a:solidFill>
                <a:srgbClr val="D2A6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TextBox 12"/>
          <p:cNvSpPr txBox="1"/>
          <p:nvPr/>
        </p:nvSpPr>
        <p:spPr>
          <a:xfrm>
            <a:off x="3794125" y="4676140"/>
            <a:ext cx="924560" cy="192405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D2A651"/>
                </a:solidFill>
                <a:latin typeface="Times New Roman" panose="02020603050405020304" charset="0"/>
                <a:cs typeface="Times New Roman" panose="02020603050405020304" charset="0"/>
              </a:rPr>
              <a:t>Embedding LLM</a:t>
            </a:r>
            <a:endParaRPr lang="en-US" sz="1000" b="1">
              <a:solidFill>
                <a:srgbClr val="D2A6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TextBox 12"/>
          <p:cNvSpPr txBox="1"/>
          <p:nvPr/>
        </p:nvSpPr>
        <p:spPr>
          <a:xfrm>
            <a:off x="5791200" y="4676140"/>
            <a:ext cx="1070610" cy="14478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D2A651"/>
                </a:solidFill>
                <a:latin typeface="Times New Roman" panose="02020603050405020304" charset="0"/>
                <a:cs typeface="Times New Roman" panose="02020603050405020304" charset="0"/>
              </a:rPr>
              <a:t>long-context Resoning LLM</a:t>
            </a:r>
            <a:endParaRPr lang="en-US" sz="1000" b="1">
              <a:solidFill>
                <a:srgbClr val="D2A6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7756525" y="4653915"/>
            <a:ext cx="1266825" cy="10668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D2A651"/>
                </a:solidFill>
                <a:latin typeface="Times New Roman" panose="02020603050405020304" charset="0"/>
                <a:cs typeface="Times New Roman" panose="02020603050405020304" charset="0"/>
              </a:rPr>
              <a:t>General Generation LLM</a:t>
            </a:r>
            <a:endParaRPr lang="en-US" sz="1000" b="1">
              <a:solidFill>
                <a:srgbClr val="D2A6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TextBox 12"/>
          <p:cNvSpPr txBox="1"/>
          <p:nvPr/>
        </p:nvSpPr>
        <p:spPr>
          <a:xfrm>
            <a:off x="9556750" y="4685665"/>
            <a:ext cx="1266825" cy="10668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D2A651"/>
                </a:solidFill>
                <a:latin typeface="Times New Roman" panose="02020603050405020304" charset="0"/>
                <a:cs typeface="Times New Roman" panose="02020603050405020304" charset="0"/>
              </a:rPr>
              <a:t>Critic/ Verifier LLM</a:t>
            </a:r>
            <a:endParaRPr lang="en-US" sz="1000" b="1">
              <a:solidFill>
                <a:srgbClr val="D2A6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8924290" y="4963160"/>
            <a:ext cx="1282700" cy="1047750"/>
          </a:xfrm>
          <a:prstGeom prst="roundRect">
            <a:avLst/>
          </a:prstGeom>
          <a:noFill/>
          <a:ln w="12700" cmpd="sng">
            <a:solidFill>
              <a:schemeClr val="accent2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9023350" y="5596255"/>
            <a:ext cx="1025525" cy="3670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Backbone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梯形 81"/>
          <p:cNvSpPr/>
          <p:nvPr/>
        </p:nvSpPr>
        <p:spPr>
          <a:xfrm>
            <a:off x="9184640" y="5304155"/>
            <a:ext cx="743585" cy="245745"/>
          </a:xfrm>
          <a:prstGeom prst="trapezoid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Adapter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4326255" y="1722120"/>
            <a:ext cx="7106285" cy="3606800"/>
          </a:xfrm>
          <a:prstGeom prst="roundRect">
            <a:avLst>
              <a:gd name="adj" fmla="val 8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2CDDD"/>
            </a:solidFill>
          </a:ln>
          <a:effectLst>
            <a:reflection stA="50000" endA="300" endPos="14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左弧形箭头 93"/>
          <p:cNvSpPr/>
          <p:nvPr/>
        </p:nvSpPr>
        <p:spPr>
          <a:xfrm rot="16800000">
            <a:off x="7406005" y="4013835"/>
            <a:ext cx="529590" cy="826135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521710" y="3065780"/>
            <a:ext cx="1010285" cy="2857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ctr"/>
            <a:r>
              <a:rPr lang="en-US" sz="950"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</a:rPr>
              <a:t>1.Submit Workflow Request</a:t>
            </a:r>
            <a:endParaRPr lang="en-US" sz="950" b="1">
              <a:solidFill>
                <a:srgbClr val="2A60B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950" b="1">
              <a:solidFill>
                <a:srgbClr val="2A60B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System O</a:t>
            </a:r>
            <a:r>
              <a:rPr lang="en-US"/>
              <a:t>verview</a:t>
            </a:r>
            <a:endParaRPr lang="en-US"/>
          </a:p>
        </p:txBody>
      </p:sp>
      <p:cxnSp>
        <p:nvCxnSpPr>
          <p:cNvPr id="5" name="Connector 4"/>
          <p:cNvCxnSpPr/>
          <p:nvPr/>
        </p:nvCxnSpPr>
        <p:spPr>
          <a:xfrm>
            <a:off x="535939" y="1641475"/>
            <a:ext cx="11201401" cy="0"/>
          </a:xfrm>
          <a:prstGeom prst="line">
            <a:avLst/>
          </a:prstGeom>
          <a:ln w="12700">
            <a:solidFill>
              <a:srgbClr val="CFD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2470" y="1846580"/>
            <a:ext cx="2990850" cy="3482975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B9CBEA"/>
            </a:solidFill>
          </a:ln>
          <a:effectLst>
            <a:reflection stA="50000" endA="300" endPos="14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5820" y="1941830"/>
            <a:ext cx="272415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500"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</a:rPr>
              <a:t>Workflow Users</a:t>
            </a:r>
            <a:endParaRPr sz="1500" b="1">
              <a:solidFill>
                <a:srgbClr val="2A60B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1979930"/>
            <a:ext cx="337185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AIaaS Workflow Orchestrator</a:t>
            </a:r>
            <a:endParaRPr sz="1500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28000" y="1846580"/>
            <a:ext cx="3162300" cy="3390900"/>
          </a:xfrm>
          <a:prstGeom prst="roundRect">
            <a:avLst>
              <a:gd name="adj" fmla="val 8000"/>
            </a:avLst>
          </a:prstGeom>
          <a:solidFill>
            <a:srgbClr val="EAF7F4"/>
          </a:solidFill>
          <a:ln w="12700">
            <a:solidFill>
              <a:srgbClr val="BBDCD5"/>
            </a:solidFill>
          </a:ln>
          <a:effectLst>
            <a:reflection stA="50000" endA="300" endPos="5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61350" y="1941830"/>
            <a:ext cx="289560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50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GPU Serving Cluster</a:t>
            </a:r>
            <a:endParaRPr sz="150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64310" y="2379980"/>
            <a:ext cx="1619885" cy="2286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98000"/>
            </a:schemeClr>
          </a:solidFill>
          <a:ln w="10160">
            <a:solidFill>
              <a:srgbClr val="2A6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1050"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</a:rPr>
              <a:t>rriving </a:t>
            </a:r>
            <a:r>
              <a:rPr lang="en-US" sz="1050"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</a:rPr>
              <a:t>W</a:t>
            </a:r>
            <a:r>
              <a:rPr sz="1050"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</a:rPr>
              <a:t>orkflows</a:t>
            </a:r>
            <a:endParaRPr sz="1050" b="1">
              <a:solidFill>
                <a:srgbClr val="2A60B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3470" y="2665730"/>
            <a:ext cx="2571750" cy="1714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15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Request 1</a:t>
            </a:r>
            <a:endParaRPr lang="en-US" sz="115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93470" y="2941955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 1-1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912620" y="2941955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 1-2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31770" y="2941955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 1-3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31770" y="3361055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 1-4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817370" y="3075305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36520" y="3075305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36520" y="3075305"/>
            <a:ext cx="76200" cy="41910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3470" y="3618229"/>
            <a:ext cx="2571750" cy="1714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15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Request 2</a:t>
            </a:r>
            <a:endParaRPr lang="en-US" sz="115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112520" y="3884930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6200" tIns="38100" rIns="76200" bIns="3810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2-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931670" y="3884930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6200" tIns="38100" rIns="76200" bIns="3810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2-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931670" y="4342130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6200" tIns="38100" rIns="76200" bIns="3810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ask 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2-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750820" y="3884930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6200" tIns="38100" rIns="76200" bIns="3810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2-</a:t>
            </a:r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836420" y="4018279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55570" y="4018279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4" idx="1"/>
          </p:cNvCxnSpPr>
          <p:nvPr/>
        </p:nvCxnSpPr>
        <p:spPr>
          <a:xfrm flipH="1" flipV="1">
            <a:off x="1836420" y="4075430"/>
            <a:ext cx="95250" cy="40005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9350" y="4945380"/>
            <a:ext cx="2117725" cy="228600"/>
          </a:xfrm>
          <a:prstGeom prst="roundRect">
            <a:avLst>
              <a:gd name="adj" fmla="val 50000"/>
            </a:avLst>
          </a:prstGeom>
          <a:solidFill>
            <a:srgbClr val="FCECEC"/>
          </a:solidFill>
          <a:ln w="10160">
            <a:solidFill>
              <a:srgbClr val="C94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sz="1050" b="1">
                <a:solidFill>
                  <a:srgbClr val="C94B45"/>
                </a:solidFill>
                <a:latin typeface="Times New Roman" panose="02020603050405020304" charset="0"/>
                <a:cs typeface="Times New Roman" panose="02020603050405020304" charset="0"/>
              </a:rPr>
              <a:t>SLA: </a:t>
            </a:r>
            <a:r>
              <a:rPr lang="en-US" sz="1050" b="1">
                <a:solidFill>
                  <a:srgbClr val="C94B45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sz="1050" b="1">
                <a:solidFill>
                  <a:srgbClr val="C94B45"/>
                </a:solidFill>
                <a:latin typeface="Times New Roman" panose="02020603050405020304" charset="0"/>
                <a:cs typeface="Times New Roman" panose="02020603050405020304" charset="0"/>
              </a:rPr>
              <a:t>atency </a:t>
            </a:r>
            <a:r>
              <a:rPr lang="en-US" sz="1050" b="1">
                <a:solidFill>
                  <a:srgbClr val="C94B45"/>
                </a:solidFill>
                <a:latin typeface="Times New Roman" panose="02020603050405020304" charset="0"/>
                <a:cs typeface="Times New Roman" panose="02020603050405020304" charset="0"/>
              </a:rPr>
              <a:t>/ Q</a:t>
            </a:r>
            <a:r>
              <a:rPr sz="1050" b="1">
                <a:solidFill>
                  <a:srgbClr val="C94B45"/>
                </a:solidFill>
                <a:latin typeface="Times New Roman" panose="02020603050405020304" charset="0"/>
                <a:cs typeface="Times New Roman" panose="02020603050405020304" charset="0"/>
              </a:rPr>
              <a:t>uality</a:t>
            </a:r>
            <a:endParaRPr sz="1050" b="1">
              <a:solidFill>
                <a:srgbClr val="C94B4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203190" y="4265930"/>
            <a:ext cx="2113280" cy="809625"/>
          </a:xfrm>
          <a:prstGeom prst="roundRect">
            <a:avLst>
              <a:gd name="adj" fmla="val 8000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E7C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26100" y="4265930"/>
            <a:ext cx="1533525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40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sz="140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Joint </a:t>
            </a:r>
            <a:r>
              <a:rPr lang="en-US" sz="140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sz="140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ecision</a:t>
            </a:r>
            <a:endParaRPr sz="140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88635" y="4475480"/>
            <a:ext cx="1638300" cy="6477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200" b="1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Ready-stage Dispatch</a:t>
            </a:r>
            <a:r>
              <a:rPr lang="en-US" sz="1200" b="0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1200" b="0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lang="en-US" sz="1200" b="1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Model Selection</a:t>
            </a:r>
            <a:r>
              <a:rPr sz="1200" b="0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lang="en-US" sz="1200" b="1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GPU Allocation</a:t>
            </a:r>
            <a:endParaRPr lang="en-US" sz="1200" b="1">
              <a:solidFill>
                <a:srgbClr val="5B657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642350" y="4894580"/>
            <a:ext cx="2057400" cy="2794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0160">
            <a:solidFill>
              <a:srgbClr val="208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sz="105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odel </a:t>
            </a:r>
            <a:r>
              <a:rPr lang="en-US" sz="105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105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esidency</a:t>
            </a:r>
            <a:r>
              <a:rPr lang="en-US" sz="105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/Switching</a:t>
            </a:r>
            <a:endParaRPr lang="en-US" sz="105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451850" y="2360930"/>
            <a:ext cx="25146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23300" y="2322830"/>
            <a:ext cx="2247900" cy="3048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Model Repository</a:t>
            </a:r>
            <a:endParaRPr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21065" y="2627630"/>
            <a:ext cx="2635885" cy="2667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endParaRPr sz="960" b="1">
              <a:solidFill>
                <a:srgbClr val="5B657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509000" y="3180080"/>
            <a:ext cx="1066800" cy="74295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B2C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42350" y="3275330"/>
            <a:ext cx="80010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40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GPU-1</a:t>
            </a:r>
            <a:endParaRPr sz="140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728200" y="3180080"/>
            <a:ext cx="1066800" cy="7429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2C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61550" y="3275330"/>
            <a:ext cx="80010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40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GPU-2</a:t>
            </a:r>
            <a:endParaRPr sz="140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509000" y="4094480"/>
            <a:ext cx="1066800" cy="7429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2C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42350" y="4189730"/>
            <a:ext cx="80010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40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GPU-3</a:t>
            </a:r>
            <a:endParaRPr sz="140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728200" y="4094480"/>
            <a:ext cx="1066800" cy="7429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2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61550" y="4198620"/>
            <a:ext cx="800100" cy="22860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sz="140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</a:rPr>
              <a:t>GPU-4</a:t>
            </a:r>
            <a:endParaRPr sz="140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899650" y="4475480"/>
            <a:ext cx="800100" cy="3238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/>
            <a:r>
              <a:rPr lang="en-US" sz="1000" b="1">
                <a:solidFill>
                  <a:srgbClr val="5B6572"/>
                </a:solidFill>
                <a:latin typeface="Times New Roman" panose="02020603050405020304" charset="0"/>
                <a:cs typeface="Times New Roman" panose="02020603050405020304" charset="0"/>
              </a:rPr>
              <a:t>Idle State</a:t>
            </a:r>
            <a:endParaRPr lang="en-US" sz="1000" b="1">
              <a:solidFill>
                <a:srgbClr val="5B657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9" name="Connector 58"/>
          <p:cNvCxnSpPr/>
          <p:nvPr/>
        </p:nvCxnSpPr>
        <p:spPr>
          <a:xfrm flipH="1">
            <a:off x="8966200" y="2951480"/>
            <a:ext cx="704850" cy="228600"/>
          </a:xfrm>
          <a:prstGeom prst="line">
            <a:avLst/>
          </a:prstGeom>
          <a:ln w="11430">
            <a:solidFill>
              <a:srgbClr val="208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09150" y="2951480"/>
            <a:ext cx="495300" cy="228600"/>
          </a:xfrm>
          <a:prstGeom prst="line">
            <a:avLst/>
          </a:prstGeom>
          <a:ln w="11430">
            <a:solidFill>
              <a:srgbClr val="208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703320" y="3542030"/>
            <a:ext cx="623570" cy="3810"/>
          </a:xfrm>
          <a:prstGeom prst="line">
            <a:avLst/>
          </a:prstGeom>
          <a:ln w="21590">
            <a:solidFill>
              <a:srgbClr val="2A60B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26"/>
          <p:cNvCxnSpPr/>
          <p:nvPr/>
        </p:nvCxnSpPr>
        <p:spPr>
          <a:xfrm flipH="1">
            <a:off x="2655570" y="4084954"/>
            <a:ext cx="96520" cy="352425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34"/>
          <p:cNvSpPr/>
          <p:nvPr/>
        </p:nvSpPr>
        <p:spPr>
          <a:xfrm>
            <a:off x="8575675" y="3599180"/>
            <a:ext cx="915035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1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Rounded Rectangle 34"/>
          <p:cNvSpPr/>
          <p:nvPr/>
        </p:nvSpPr>
        <p:spPr>
          <a:xfrm>
            <a:off x="9784715" y="3599180"/>
            <a:ext cx="915035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2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Rounded Rectangle 34"/>
          <p:cNvSpPr/>
          <p:nvPr/>
        </p:nvSpPr>
        <p:spPr>
          <a:xfrm>
            <a:off x="8575675" y="4494530"/>
            <a:ext cx="915035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3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Rounded Rectangle 34"/>
          <p:cNvSpPr/>
          <p:nvPr/>
        </p:nvSpPr>
        <p:spPr>
          <a:xfrm>
            <a:off x="8509000" y="2627630"/>
            <a:ext cx="915035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1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Rounded Rectangle 34"/>
          <p:cNvSpPr/>
          <p:nvPr/>
        </p:nvSpPr>
        <p:spPr>
          <a:xfrm>
            <a:off x="9461500" y="2608580"/>
            <a:ext cx="915035" cy="22860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0160">
            <a:solidFill>
              <a:srgbClr val="DA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105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</a:rPr>
              <a:t>Model 2</a:t>
            </a:r>
            <a:endParaRPr lang="en-US" sz="1050" b="1">
              <a:solidFill>
                <a:srgbClr val="DA9A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10325100" y="2532380"/>
            <a:ext cx="1070610" cy="14478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DA9A37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</a:t>
            </a:r>
            <a:r>
              <a:rPr lang="en-US" b="1">
                <a:solidFill>
                  <a:srgbClr val="D2A651"/>
                </a:solidFill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b="1">
              <a:solidFill>
                <a:srgbClr val="D2A65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TextBox 12"/>
          <p:cNvSpPr txBox="1"/>
          <p:nvPr/>
        </p:nvSpPr>
        <p:spPr>
          <a:xfrm>
            <a:off x="1093470" y="4608830"/>
            <a:ext cx="1070610" cy="14478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15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Reuqust </a:t>
            </a: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. . .</a:t>
            </a:r>
            <a:endParaRPr lang="en-US" alt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Rounded Rectangle 38"/>
          <p:cNvSpPr/>
          <p:nvPr/>
        </p:nvSpPr>
        <p:spPr>
          <a:xfrm>
            <a:off x="5429250" y="2912110"/>
            <a:ext cx="1753235" cy="125730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Ready Stage Queue</a:t>
            </a:r>
            <a:endParaRPr lang="en-US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5944235" y="3312160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 1-2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6" name="Connector 17"/>
          <p:cNvCxnSpPr/>
          <p:nvPr/>
        </p:nvCxnSpPr>
        <p:spPr>
          <a:xfrm>
            <a:off x="5848985" y="3445510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18"/>
          <p:cNvCxnSpPr/>
          <p:nvPr/>
        </p:nvCxnSpPr>
        <p:spPr>
          <a:xfrm>
            <a:off x="6668135" y="3445510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14"/>
          <p:cNvSpPr/>
          <p:nvPr/>
        </p:nvSpPr>
        <p:spPr>
          <a:xfrm>
            <a:off x="5944235" y="3616960"/>
            <a:ext cx="723900" cy="266700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0160">
            <a:solidFill>
              <a:srgbClr val="A3B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/>
            <a:r>
              <a:rPr lang="en-US" sz="93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 2-2</a:t>
            </a:r>
            <a:endParaRPr lang="en-US" sz="93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9" name="Connector 17"/>
          <p:cNvCxnSpPr/>
          <p:nvPr/>
        </p:nvCxnSpPr>
        <p:spPr>
          <a:xfrm>
            <a:off x="5848985" y="3750310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18"/>
          <p:cNvCxnSpPr/>
          <p:nvPr/>
        </p:nvCxnSpPr>
        <p:spPr>
          <a:xfrm>
            <a:off x="6668135" y="3750310"/>
            <a:ext cx="76200" cy="0"/>
          </a:xfrm>
          <a:prstGeom prst="line">
            <a:avLst/>
          </a:prstGeom>
          <a:ln w="11430">
            <a:solidFill>
              <a:srgbClr val="67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12"/>
          <p:cNvSpPr txBox="1"/>
          <p:nvPr/>
        </p:nvSpPr>
        <p:spPr>
          <a:xfrm>
            <a:off x="6002020" y="3883660"/>
            <a:ext cx="1070610" cy="14478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l">
              <a:lnSpc>
                <a:spcPct val="90000"/>
              </a:lnSpc>
            </a:pPr>
            <a:r>
              <a:rPr lang="en-US" sz="10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Task</a:t>
            </a:r>
            <a:r>
              <a:rPr lang="en-US" sz="115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1400" b="1">
                <a:solidFill>
                  <a:srgbClr val="17202A"/>
                </a:solidFill>
                <a:latin typeface="Times New Roman" panose="02020603050405020304" charset="0"/>
                <a:cs typeface="Times New Roman" panose="02020603050405020304" charset="0"/>
              </a:rPr>
              <a:t>. . .</a:t>
            </a:r>
            <a:endParaRPr lang="en-US" altLang="en-US" sz="1400" b="1">
              <a:solidFill>
                <a:srgbClr val="1720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353050" y="3550285"/>
            <a:ext cx="74295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Precursor 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    Task 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(Completed)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626860" y="3566160"/>
            <a:ext cx="66929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Flow-up 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    Task 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(Waiting)</a:t>
            </a:r>
            <a:endParaRPr lang="en-US" altLang="zh-CN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Rounded Rectangle 11"/>
          <p:cNvSpPr/>
          <p:nvPr/>
        </p:nvSpPr>
        <p:spPr>
          <a:xfrm>
            <a:off x="5527040" y="2278380"/>
            <a:ext cx="1619885" cy="2286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016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Autofit/>
          </a:bodyPr>
          <a:p>
            <a:pPr algn="ctr">
              <a:buClrTx/>
              <a:buSzTx/>
              <a:buFontTx/>
            </a:pPr>
            <a:r>
              <a:rPr lang="en-US" sz="1050" b="1">
                <a:solidFill>
                  <a:srgbClr val="6D6F8C"/>
                </a:solidFill>
                <a:latin typeface="Times New Roman" panose="02020603050405020304" charset="0"/>
                <a:cs typeface="Times New Roman" panose="02020603050405020304" charset="0"/>
              </a:rPr>
              <a:t>Event Trigger</a:t>
            </a:r>
            <a:endParaRPr lang="en-US" sz="1050" b="1">
              <a:solidFill>
                <a:srgbClr val="6D6F8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8" name="Rounded Rectangle 46"/>
          <p:cNvSpPr/>
          <p:nvPr/>
        </p:nvSpPr>
        <p:spPr>
          <a:xfrm>
            <a:off x="5113020" y="2576830"/>
            <a:ext cx="1143000" cy="2743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Workflow Arrival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Rounded Rectangle 46"/>
          <p:cNvSpPr/>
          <p:nvPr/>
        </p:nvSpPr>
        <p:spPr>
          <a:xfrm>
            <a:off x="6383020" y="2578100"/>
            <a:ext cx="1143000" cy="2743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Task Completion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2" name="弧形 101"/>
          <p:cNvSpPr/>
          <p:nvPr/>
        </p:nvSpPr>
        <p:spPr>
          <a:xfrm rot="12240000">
            <a:off x="5337810" y="2459990"/>
            <a:ext cx="556895" cy="1138555"/>
          </a:xfrm>
          <a:prstGeom prst="arc">
            <a:avLst/>
          </a:prstGeom>
          <a:ln w="0">
            <a:solidFill>
              <a:schemeClr val="tx1"/>
            </a:solidFill>
            <a:head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3" name="TextBox 61"/>
          <p:cNvSpPr txBox="1"/>
          <p:nvPr/>
        </p:nvSpPr>
        <p:spPr>
          <a:xfrm>
            <a:off x="4326255" y="3026410"/>
            <a:ext cx="1010285" cy="2857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ctr"/>
            <a:r>
              <a:rPr lang="en-US" sz="95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2.Enter the</a:t>
            </a:r>
            <a:endParaRPr lang="en-US" sz="95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95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Waiting Queue</a:t>
            </a:r>
            <a:endParaRPr lang="en-US" sz="95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" name="左弧形箭头 103"/>
          <p:cNvSpPr/>
          <p:nvPr/>
        </p:nvSpPr>
        <p:spPr>
          <a:xfrm rot="6720000">
            <a:off x="7487285" y="2037715"/>
            <a:ext cx="529590" cy="826135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5" name="弧形 104"/>
          <p:cNvSpPr/>
          <p:nvPr/>
        </p:nvSpPr>
        <p:spPr>
          <a:xfrm rot="9300000" flipH="1">
            <a:off x="6690360" y="2510790"/>
            <a:ext cx="579120" cy="1088390"/>
          </a:xfrm>
          <a:prstGeom prst="arc">
            <a:avLst/>
          </a:prstGeom>
          <a:ln w="0">
            <a:solidFill>
              <a:schemeClr val="tx1"/>
            </a:solidFill>
            <a:head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6" name="TextBox 61"/>
          <p:cNvSpPr txBox="1"/>
          <p:nvPr/>
        </p:nvSpPr>
        <p:spPr>
          <a:xfrm>
            <a:off x="7226935" y="3075305"/>
            <a:ext cx="1010285" cy="2857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ctr"/>
            <a:r>
              <a:rPr lang="en-US" sz="95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5.Update the</a:t>
            </a:r>
            <a:endParaRPr lang="en-US" sz="95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95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Waiting Queue</a:t>
            </a:r>
            <a:endParaRPr lang="en-US" sz="95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TextBox 61"/>
          <p:cNvSpPr txBox="1"/>
          <p:nvPr/>
        </p:nvSpPr>
        <p:spPr>
          <a:xfrm>
            <a:off x="9076690" y="3911600"/>
            <a:ext cx="1277620" cy="285750"/>
          </a:xfrm>
          <a:prstGeom prst="rect">
            <a:avLst/>
          </a:prstGeom>
          <a:noFill/>
        </p:spPr>
        <p:txBody>
          <a:bodyPr wrap="square" lIns="76200" tIns="38100" rIns="76200" bIns="38100">
            <a:noAutofit/>
          </a:bodyPr>
          <a:p>
            <a:pPr algn="ctr"/>
            <a:r>
              <a:rPr lang="en-US" sz="95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4.Stage Execution</a:t>
            </a:r>
            <a:endParaRPr lang="en-US" sz="95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Problem F</a:t>
            </a:r>
            <a:r>
              <a:rPr lang="en-US"/>
              <a:t>ormulation</a:t>
            </a:r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958215" y="19196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Workflow Reuests: </a:t>
            </a:r>
            <a:endParaRPr lang="en-US" altLang="zh-CN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165" y="1832610"/>
            <a:ext cx="2073275" cy="490855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958215" y="2288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Workflow j:</a:t>
            </a:r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310" y="2287905"/>
            <a:ext cx="2389505" cy="386715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4807585" y="2337435"/>
            <a:ext cx="59010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到达时间、时延时限、服务等级、请求收益、请求结构图</a:t>
            </a:r>
            <a:endParaRPr lang="zh-CN" altLang="en-US" sz="1200"/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040" y="2301240"/>
            <a:ext cx="1224915" cy="310515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958215" y="2688590"/>
            <a:ext cx="231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阶段</a:t>
            </a:r>
            <a:r>
              <a:rPr lang="en-US" altLang="zh-CN"/>
              <a:t>task </a:t>
            </a:r>
            <a:r>
              <a:rPr lang="en-US" altLang="zh-CN"/>
              <a:t>i: </a:t>
            </a:r>
            <a:endParaRPr lang="en-US" altLang="zh-CN"/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815" y="2711450"/>
            <a:ext cx="539115" cy="272415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3340100" y="2676525"/>
            <a:ext cx="2522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拥有语义类型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460" y="2683510"/>
            <a:ext cx="685800" cy="321310"/>
          </a:xfrm>
          <a:prstGeom prst="rect">
            <a:avLst/>
          </a:prstGeom>
        </p:spPr>
      </p:pic>
      <p:sp>
        <p:nvSpPr>
          <p:cNvPr id="88" name="文本框 87"/>
          <p:cNvSpPr txBox="1"/>
          <p:nvPr/>
        </p:nvSpPr>
        <p:spPr>
          <a:xfrm>
            <a:off x="5862955" y="2660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（阶段类型</a:t>
            </a:r>
            <a:r>
              <a:rPr lang="zh-CN" altLang="en-US"/>
              <a:t>集合）</a:t>
            </a:r>
            <a:endParaRPr lang="zh-CN" altLang="en-US"/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7"/>
          <a:srcRect t="56709"/>
          <a:stretch>
            <a:fillRect/>
          </a:stretch>
        </p:blipFill>
        <p:spPr>
          <a:xfrm>
            <a:off x="4742815" y="3064510"/>
            <a:ext cx="6711315" cy="172085"/>
          </a:xfrm>
          <a:prstGeom prst="rect">
            <a:avLst/>
          </a:prstGeom>
        </p:spPr>
      </p:pic>
      <p:sp>
        <p:nvSpPr>
          <p:cNvPr id="90" name="文本框 89"/>
          <p:cNvSpPr txBox="1"/>
          <p:nvPr/>
        </p:nvSpPr>
        <p:spPr>
          <a:xfrm>
            <a:off x="847725" y="14579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b="1">
                <a:solidFill>
                  <a:srgbClr val="2A60B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Workflow Users</a:t>
            </a:r>
            <a:endParaRPr b="1">
              <a:solidFill>
                <a:srgbClr val="2A60B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-1353185" y="351409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Ready Stage Queue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1600" y="3486150"/>
            <a:ext cx="4010660" cy="41148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9760" y="3820795"/>
            <a:ext cx="5845810" cy="272415"/>
          </a:xfrm>
          <a:prstGeom prst="rect">
            <a:avLst/>
          </a:prstGeom>
        </p:spPr>
      </p:pic>
      <p:sp>
        <p:nvSpPr>
          <p:cNvPr id="94" name="文本框 93"/>
          <p:cNvSpPr txBox="1"/>
          <p:nvPr/>
        </p:nvSpPr>
        <p:spPr>
          <a:xfrm>
            <a:off x="847725" y="4277995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500" b="1">
                <a:solidFill>
                  <a:srgbClr val="208B8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GPU Serving Cluster</a:t>
            </a:r>
            <a:endParaRPr lang="zh-CN" altLang="en-US" sz="1500" b="1">
              <a:solidFill>
                <a:srgbClr val="208B8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958215" y="4603750"/>
            <a:ext cx="304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</a:t>
            </a:r>
            <a:r>
              <a:rPr lang="zh-CN" altLang="en-US"/>
              <a:t>库：</a:t>
            </a:r>
            <a:endParaRPr lang="zh-CN" altLang="en-US"/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9625" y="4678045"/>
            <a:ext cx="1600200" cy="254635"/>
          </a:xfrm>
          <a:prstGeom prst="rect">
            <a:avLst/>
          </a:prstGeom>
        </p:spPr>
      </p:pic>
      <p:sp>
        <p:nvSpPr>
          <p:cNvPr id="97" name="文本框 96"/>
          <p:cNvSpPr txBox="1"/>
          <p:nvPr/>
        </p:nvSpPr>
        <p:spPr>
          <a:xfrm>
            <a:off x="4004310" y="4677410"/>
            <a:ext cx="3213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服务</a:t>
            </a:r>
            <a:r>
              <a:rPr lang="zh-CN" altLang="en-US"/>
              <a:t>副本：</a:t>
            </a:r>
            <a:endParaRPr lang="zh-CN" altLang="en-US"/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2935" y="4709160"/>
            <a:ext cx="1515745" cy="273050"/>
          </a:xfrm>
          <a:prstGeom prst="rect">
            <a:avLst/>
          </a:prstGeom>
        </p:spPr>
      </p:pic>
      <p:sp>
        <p:nvSpPr>
          <p:cNvPr id="99" name="文本框 98"/>
          <p:cNvSpPr txBox="1"/>
          <p:nvPr/>
        </p:nvSpPr>
        <p:spPr>
          <a:xfrm>
            <a:off x="7218045" y="4641850"/>
            <a:ext cx="2692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每个副本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2320" y="4708525"/>
            <a:ext cx="1130935" cy="276860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4255" y="4969510"/>
            <a:ext cx="2901315" cy="255905"/>
          </a:xfrm>
          <a:prstGeom prst="rect">
            <a:avLst/>
          </a:prstGeom>
        </p:spPr>
      </p:pic>
      <p:sp>
        <p:nvSpPr>
          <p:cNvPr id="102" name="文本框 101"/>
          <p:cNvSpPr txBox="1"/>
          <p:nvPr/>
        </p:nvSpPr>
        <p:spPr>
          <a:xfrm>
            <a:off x="1039495" y="5280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每个阶段类型</a:t>
            </a:r>
            <a:r>
              <a:rPr lang="en-US" altLang="zh-CN"/>
              <a:t>k</a:t>
            </a:r>
            <a:r>
              <a:rPr lang="zh-CN" altLang="en-US"/>
              <a:t>对应一组模型</a:t>
            </a:r>
            <a:r>
              <a:rPr lang="en-US" altLang="zh-CN"/>
              <a:t>: </a:t>
            </a:r>
            <a:endParaRPr lang="en-US" altLang="zh-CN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7515" y="5374005"/>
            <a:ext cx="923925" cy="180975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5320665" y="5302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预先离线评测得到质量得分</a:t>
            </a:r>
            <a:endParaRPr lang="zh-CN" altLang="en-US"/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62925" y="5358765"/>
            <a:ext cx="1450340" cy="28257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1443990" y="5848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任一模型</a:t>
            </a:r>
            <a:r>
              <a:rPr lang="zh-CN" altLang="en-US"/>
              <a:t>表示：</a:t>
            </a:r>
            <a:endParaRPr lang="zh-CN" altLang="en-US"/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98165" y="5927090"/>
            <a:ext cx="2561590" cy="252730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1630" y="6264910"/>
            <a:ext cx="6063615" cy="20701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Problem F</a:t>
            </a:r>
            <a:r>
              <a:rPr lang="en-US"/>
              <a:t>ormulation</a:t>
            </a:r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810895" y="1457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三种模型常驻与</a:t>
            </a:r>
            <a:r>
              <a:rPr lang="zh-CN" altLang="en-US"/>
              <a:t>加载模式：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20" y="1826260"/>
            <a:ext cx="4042410" cy="12204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1385" y="2251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模型切换时间</a:t>
            </a:r>
            <a:r>
              <a:rPr lang="en-US" altLang="zh-CN"/>
              <a:t>: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718300" y="1910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Resident H</a:t>
            </a:r>
            <a:r>
              <a:rPr lang="en-US" altLang="zh-CN"/>
              <a:t>it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6718300" y="2278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Same-backbone Adapter T</a:t>
            </a:r>
            <a:r>
              <a:rPr lang="en-US" altLang="zh-CN"/>
              <a:t>ransition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6810375" y="2678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Cold Model L</a:t>
            </a:r>
            <a:r>
              <a:rPr lang="en-US" altLang="zh-CN"/>
              <a:t>oad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410" y="2251710"/>
            <a:ext cx="1007110" cy="3105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515" y="2667635"/>
            <a:ext cx="751205" cy="3975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04570" y="3571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任务的</a:t>
            </a:r>
            <a:r>
              <a:rPr lang="zh-CN" altLang="en-US"/>
              <a:t>完成时间：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180" y="3549650"/>
            <a:ext cx="3719195" cy="4076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29755" y="3442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整体请求</a:t>
            </a:r>
            <a:r>
              <a:rPr lang="zh-CN" altLang="en-US"/>
              <a:t>完成时间：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5100" y="3446780"/>
            <a:ext cx="1638300" cy="36449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600315" y="3811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端到端</a:t>
            </a:r>
            <a:r>
              <a:rPr lang="zh-CN" altLang="en-US"/>
              <a:t>时延：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5100" y="3811270"/>
            <a:ext cx="1107440" cy="37592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29335" y="4559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决策变量：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370965" y="4935855"/>
            <a:ext cx="1479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工作流</a:t>
            </a:r>
            <a:r>
              <a:rPr lang="zh-CN" altLang="en-US"/>
              <a:t>准入</a:t>
            </a:r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1445" y="4936490"/>
            <a:ext cx="242570" cy="33718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291205" y="4931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模型选择、</a:t>
            </a:r>
            <a:r>
              <a:rPr lang="en-US" altLang="zh-CN"/>
              <a:t>GPU</a:t>
            </a:r>
            <a:r>
              <a:rPr lang="zh-CN" altLang="en-US"/>
              <a:t>副本</a:t>
            </a:r>
            <a:r>
              <a:rPr lang="zh-CN" altLang="en-US"/>
              <a:t>分配</a:t>
            </a:r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2820" y="4886960"/>
            <a:ext cx="1403350" cy="41656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5385" y="5268595"/>
            <a:ext cx="3445510" cy="19621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Algorithmic I</a:t>
            </a:r>
            <a:r>
              <a:rPr lang="en-US"/>
              <a:t>dea</a:t>
            </a:r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1032510" y="1430020"/>
            <a:ext cx="8217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核心优化目标：最大化长期内成功完成工作流的</a:t>
            </a:r>
            <a:r>
              <a:rPr lang="zh-CN" altLang="en-US"/>
              <a:t>加权收益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05" y="1990090"/>
            <a:ext cx="6347460" cy="473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15695" y="2630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约束条件：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39875" y="2998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唯一模型</a:t>
            </a:r>
            <a:r>
              <a:rPr lang="en-US" altLang="zh-CN"/>
              <a:t>-</a:t>
            </a:r>
            <a:r>
              <a:rPr lang="zh-CN" altLang="en-US"/>
              <a:t>副本</a:t>
            </a:r>
            <a:r>
              <a:rPr lang="zh-CN" altLang="en-US"/>
              <a:t>分配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5" y="2896870"/>
            <a:ext cx="3239135" cy="4210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75435" y="3635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阶段类型适配</a:t>
            </a:r>
            <a:r>
              <a:rPr lang="zh-CN" altLang="en-US"/>
              <a:t>约束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3635375"/>
            <a:ext cx="2030095" cy="2813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915025" y="3556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输出质量</a:t>
            </a:r>
            <a:r>
              <a:rPr lang="zh-CN" altLang="en-US"/>
              <a:t>约束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835" y="3519170"/>
            <a:ext cx="2009775" cy="3695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75435" y="4142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工作流前驱后继时序</a:t>
            </a:r>
            <a:r>
              <a:rPr lang="zh-CN" altLang="en-US"/>
              <a:t>约束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285" y="4185285"/>
            <a:ext cx="2030095" cy="32131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602105" y="4737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副本时间互不重叠</a:t>
            </a:r>
            <a:r>
              <a:rPr lang="zh-CN" altLang="en-US"/>
              <a:t>约束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5285" y="4712335"/>
            <a:ext cx="2432050" cy="3549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575435" y="5232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GPU</a:t>
            </a:r>
            <a:r>
              <a:rPr lang="zh-CN" altLang="en-US"/>
              <a:t>显存</a:t>
            </a:r>
            <a:r>
              <a:rPr lang="zh-CN" altLang="en-US"/>
              <a:t>约束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2655" y="5238750"/>
            <a:ext cx="1958975" cy="36449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602105" y="5838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端到端时延</a:t>
            </a:r>
            <a:r>
              <a:rPr lang="zh-CN" altLang="en-US"/>
              <a:t>约束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6800" y="5838825"/>
            <a:ext cx="1311910" cy="42227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602105" y="6285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准入容量</a:t>
            </a:r>
            <a:r>
              <a:rPr lang="zh-CN" altLang="en-US"/>
              <a:t>上限约束</a:t>
            </a:r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025" y="6228715"/>
            <a:ext cx="2737485" cy="38608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问题特点</a:t>
            </a:r>
            <a:r>
              <a:rPr lang="en-US" altLang="zh-CN"/>
              <a:t>     </a:t>
            </a:r>
            <a:r>
              <a:rPr lang="zh-CN" altLang="en-US"/>
              <a:t>适合强化学习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09015" y="1394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普通</a:t>
            </a:r>
            <a:r>
              <a:rPr lang="zh-CN" altLang="en-US"/>
              <a:t>匹配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80" y="1461770"/>
            <a:ext cx="2582545" cy="28511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109980" y="1920240"/>
            <a:ext cx="2061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我们的在线</a:t>
            </a:r>
            <a:r>
              <a:rPr lang="zh-CN" altLang="en-US"/>
              <a:t>问题</a:t>
            </a:r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930" y="1884680"/>
            <a:ext cx="3467100" cy="62611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109980" y="2981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不同于独立请求</a:t>
            </a:r>
            <a:r>
              <a:rPr lang="zh-CN" altLang="en-US"/>
              <a:t>调度</a:t>
            </a:r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040" y="2926080"/>
            <a:ext cx="3570605" cy="63690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109980" y="3914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模型准备有几种不同的</a:t>
            </a:r>
            <a:r>
              <a:rPr lang="zh-CN" altLang="en-US"/>
              <a:t>模式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249045" y="47421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允许时间的扰动，下一决策时刻由任务完成和模型加载事件决定：</a:t>
            </a:r>
            <a:r>
              <a:rPr lang="en-US" altLang="zh-CN"/>
              <a:t>SMDP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1294765" y="5704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NP-har</a:t>
            </a:r>
            <a:r>
              <a:rPr lang="en-US" altLang="zh-CN"/>
              <a:t>d</a:t>
            </a:r>
            <a:endParaRPr lang="en-US" altLang="zh-CN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840" y="5387340"/>
            <a:ext cx="4093210" cy="138811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294765" y="6073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可归约</a:t>
            </a:r>
            <a:r>
              <a:rPr lang="zh-CN" altLang="en-US"/>
              <a:t>证明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696200" y="1199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一个最直接的初始贪心</a:t>
            </a:r>
            <a:r>
              <a:rPr lang="zh-CN" altLang="en-US"/>
              <a:t>策略</a:t>
            </a:r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915" y="1865630"/>
            <a:ext cx="4218305" cy="352171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7016750" y="561181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优先执行价值高、</a:t>
            </a:r>
            <a:r>
              <a:rPr lang="en-US" altLang="zh-CN" sz="1600"/>
              <a:t>deadline </a:t>
            </a:r>
            <a:r>
              <a:rPr lang="zh-CN" altLang="en-US" sz="1600"/>
              <a:t>紧、</a:t>
            </a:r>
            <a:r>
              <a:rPr lang="zh-CN" altLang="en-US" sz="1600"/>
              <a:t>可作为最直接的强启发式 </a:t>
            </a:r>
            <a:r>
              <a:rPr lang="en-US" altLang="zh-CN" sz="1600"/>
              <a:t>baseline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sp>
        <p:nvSpPr>
          <p:cNvPr id="36" name="文本框 35"/>
          <p:cNvSpPr txBox="1"/>
          <p:nvPr/>
        </p:nvSpPr>
        <p:spPr>
          <a:xfrm>
            <a:off x="7192645" y="619506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但即时评分无法衡量未来阶段、需要一些强假设、状态维度</a:t>
            </a:r>
            <a:r>
              <a:rPr lang="zh-CN" altLang="en-US"/>
              <a:t>高</a:t>
            </a:r>
            <a:endParaRPr lang="zh-CN" altLang="en-US"/>
          </a:p>
        </p:txBody>
      </p:sp>
      <p:sp>
        <p:nvSpPr>
          <p:cNvPr id="37" name="右箭头 36"/>
          <p:cNvSpPr/>
          <p:nvPr/>
        </p:nvSpPr>
        <p:spPr>
          <a:xfrm>
            <a:off x="2778125" y="939165"/>
            <a:ext cx="393065" cy="762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WPR-A2C</a:t>
            </a:r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70" y="1701800"/>
            <a:ext cx="3299460" cy="25063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50" y="1646555"/>
            <a:ext cx="6885305" cy="4445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WPR-A2C</a:t>
            </a:r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60" y="2000250"/>
            <a:ext cx="5183505" cy="35839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839470"/>
            <a:ext cx="4468495" cy="3695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4650105"/>
            <a:ext cx="4207510" cy="18726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/>
              <a:t>WPR-A2C</a:t>
            </a:r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817880" y="1524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可以给出的算法</a:t>
            </a:r>
            <a:r>
              <a:rPr lang="zh-CN" altLang="en-US"/>
              <a:t>性质：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0" y="2323465"/>
            <a:ext cx="5247005" cy="29013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465" y="2005330"/>
            <a:ext cx="4093210" cy="28467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09015" y="1639570"/>
            <a:ext cx="8062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Baselines</a:t>
            </a:r>
            <a:r>
              <a:rPr lang="zh-CN" altLang="en-US"/>
              <a:t>：小规模</a:t>
            </a:r>
            <a:r>
              <a:rPr lang="en-US" altLang="zh-CN"/>
              <a:t>optimal</a:t>
            </a:r>
            <a:r>
              <a:rPr lang="zh-CN" altLang="en-US"/>
              <a:t>、传统</a:t>
            </a:r>
            <a:r>
              <a:rPr lang="en-US" altLang="zh-CN"/>
              <a:t>EDF</a:t>
            </a:r>
            <a:r>
              <a:rPr lang="zh-CN" altLang="en-US"/>
              <a:t>、启发式</a:t>
            </a:r>
            <a:r>
              <a:rPr lang="zh-CN" altLang="en-US"/>
              <a:t>贪心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24585" y="23780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与普通的强化学习对比：可以去掉各模块做消融</a:t>
            </a:r>
            <a:r>
              <a:rPr lang="zh-CN" altLang="en-US"/>
              <a:t>实验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8700" y="3279775"/>
            <a:ext cx="8042910" cy="768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测试指标：</a:t>
            </a:r>
            <a:r>
              <a:rPr lang="en-US" altLang="zh-CN"/>
              <a:t>SLA success ratio</a:t>
            </a:r>
            <a:r>
              <a:rPr lang="zh-CN" altLang="en-US"/>
              <a:t>、优化的加权收益、</a:t>
            </a:r>
            <a:r>
              <a:rPr lang="en-US" altLang="zh-CN"/>
              <a:t>P95 latency</a:t>
            </a:r>
            <a:r>
              <a:rPr lang="zh-CN" altLang="en-US"/>
              <a:t>、</a:t>
            </a:r>
            <a:r>
              <a:rPr lang="en-US" altLang="zh-CN"/>
              <a:t>optimality </a:t>
            </a:r>
            <a:r>
              <a:rPr lang="en-US" altLang="zh-CN"/>
              <a:t>gap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主要</a:t>
            </a:r>
            <a:r>
              <a:rPr lang="zh-CN" altLang="en-US"/>
              <a:t>贡献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95" y="1641475"/>
            <a:ext cx="8072120" cy="27012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</Words>
  <Application>WPS 演示</Application>
  <PresentationFormat>宽屏</PresentationFormat>
  <Paragraphs>313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三类Agentic LLM Services</vt:lpstr>
      <vt:lpstr>System Overview</vt:lpstr>
      <vt:lpstr>Problem Formulation</vt:lpstr>
      <vt:lpstr>Problem Formulation</vt:lpstr>
      <vt:lpstr>Algorithmic Idea</vt:lpstr>
      <vt:lpstr>WPR-A2C</vt:lpstr>
      <vt:lpstr>问题特点     适合强化学习</vt:lpstr>
      <vt:lpstr>WPR-A2C</vt:lpstr>
      <vt:lpstr>WPR-A2C</vt:lpstr>
      <vt:lpstr>实验测试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Lyre</cp:lastModifiedBy>
  <cp:revision>214</cp:revision>
  <dcterms:created xsi:type="dcterms:W3CDTF">2019-06-19T02:08:00Z</dcterms:created>
  <dcterms:modified xsi:type="dcterms:W3CDTF">2026-07-16T23:42:40Z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9A72698612FD40C892AA5E49A3F8F761_11</vt:lpwstr>
  </property>
</Properties>
</file>